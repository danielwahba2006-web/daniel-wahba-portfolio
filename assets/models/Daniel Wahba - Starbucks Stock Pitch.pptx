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rgbClr val="007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0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9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5C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7A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916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B6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N. America</c:v>
                  </c:pt>
                  <c:pt idx="1">
                    <c:v>China</c:v>
                  </c:pt>
                  <c:pt idx="2">
                    <c:v>Japan</c:v>
                  </c:pt>
                  <c:pt idx="3">
                    <c:v>Korea</c:v>
                  </c:pt>
                  <c:pt idx="4">
                    <c:v>UK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17100</c:v>
                </c:pt>
                <c:pt idx="1">
                  <c:v>7596</c:v>
                </c:pt>
                <c:pt idx="2">
                  <c:v>1900</c:v>
                </c:pt>
                <c:pt idx="3">
                  <c:v>1870</c:v>
                </c:pt>
                <c:pt idx="4">
                  <c:v>1350</c:v>
                </c:pt>
                <c:pt idx="5">
                  <c:v>10383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70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70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70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Q2'24</c:v>
                  </c:pt>
                  <c:pt idx="1">
                    <c:v>Q3'24</c:v>
                  </c:pt>
                  <c:pt idx="2">
                    <c:v>Q4'24</c:v>
                  </c:pt>
                  <c:pt idx="3">
                    <c:v>Q1'25</c:v>
                  </c:pt>
                  <c:pt idx="4">
                    <c:v>Q2'25</c:v>
                  </c:pt>
                  <c:pt idx="5">
                    <c:v>Q3'25</c:v>
                  </c:pt>
                  <c:pt idx="6">
                    <c:v>Q4'25</c:v>
                  </c:pt>
                  <c:pt idx="7">
                    <c:v>Q1'26</c:v>
                  </c:pt>
                  <c:pt idx="8">
                    <c:v>Q2'26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</c:v>
                </c:pt>
                <c:pt idx="1">
                  <c:v>-3</c:v>
                </c:pt>
                <c:pt idx="2">
                  <c:v>-7</c:v>
                </c:pt>
                <c:pt idx="3">
                  <c:v>-4</c:v>
                </c:pt>
                <c:pt idx="4">
                  <c:v>-2</c:v>
                </c:pt>
                <c:pt idx="5">
                  <c:v>-3</c:v>
                </c:pt>
                <c:pt idx="6">
                  <c:v>1</c:v>
                </c:pt>
                <c:pt idx="7">
                  <c:v>4</c:v>
                </c:pt>
                <c:pt idx="8">
                  <c:v>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-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($bn)</c:v>
                </c:pt>
              </c:strCache>
            </c:strRef>
          </c:tx>
          <c:spPr>
            <a:solidFill>
              <a:srgbClr val="007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32.25</c:v>
                </c:pt>
                <c:pt idx="1">
                  <c:v>35.98</c:v>
                </c:pt>
                <c:pt idx="2">
                  <c:v>36.18</c:v>
                </c:pt>
                <c:pt idx="3">
                  <c:v>36.2</c:v>
                </c:pt>
                <c:pt idx="4">
                  <c:v>38.5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($bn)</c:v>
                </c:pt>
              </c:strCache>
            </c:strRef>
          </c:tx>
          <c:spPr>
            <a:solidFill>
              <a:srgbClr val="CBA2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5.58</c:v>
                </c:pt>
                <c:pt idx="1">
                  <c:v>6.33</c:v>
                </c:pt>
                <c:pt idx="2">
                  <c:v>6.97</c:v>
                </c:pt>
                <c:pt idx="3">
                  <c:v>4.7</c:v>
                </c:pt>
                <c:pt idx="4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Op. Margin %</c:v>
                </c:pt>
              </c:strCache>
            </c:strRef>
          </c:tx>
          <c:spPr>
            <a:solidFill>
              <a:srgbClr val="00704A"/>
            </a:solidFill>
            <a:ln w="38100" cap="flat">
              <a:solidFill>
                <a:srgbClr val="007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04A"/>
              </a:solidFill>
              <a:ln w="9525" cap="flat">
                <a:solidFill>
                  <a:srgbClr val="007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FY19</c:v>
                  </c:pt>
                  <c:pt idx="1">
                    <c:v>FY20</c:v>
                  </c:pt>
                  <c:pt idx="2">
                    <c:v>FY21</c:v>
                  </c:pt>
                  <c:pt idx="3">
                    <c:v>FY22</c:v>
                  </c:pt>
                  <c:pt idx="4">
                    <c:v>FY23</c:v>
                  </c:pt>
                  <c:pt idx="5">
                    <c:v>FY24</c:v>
                  </c:pt>
                  <c:pt idx="6">
                    <c:v>FY25</c:v>
                  </c:pt>
                  <c:pt idx="7">
                    <c:v>FY26E</c:v>
                  </c:pt>
                  <c:pt idx="8">
                    <c:v>FY27E</c:v>
                  </c:pt>
                  <c:pt idx="9">
                    <c:v>FY28E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15.4</c:v>
                </c:pt>
                <c:pt idx="1">
                  <c:v>6.3</c:v>
                </c:pt>
                <c:pt idx="2">
                  <c:v>14.3</c:v>
                </c:pt>
                <c:pt idx="3">
                  <c:v>15.4</c:v>
                </c:pt>
                <c:pt idx="4">
                  <c:v>16.4</c:v>
                </c:pt>
                <c:pt idx="5">
                  <c:v>14.9</c:v>
                </c:pt>
                <c:pt idx="6">
                  <c:v>7.9</c:v>
                </c:pt>
                <c:pt idx="7">
                  <c:v>9.5</c:v>
                </c:pt>
                <c:pt idx="8">
                  <c:v>11.5</c:v>
                </c:pt>
                <c:pt idx="9">
                  <c:v>13.2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core asymmetry: SBUX is priced for a permanently impaired business. We think this is cyclical + managerial, not structural. Even partial margin recovery to 12-13% implies $128+ at 25x 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summary. Key asymmetry: operating margins are at 7.9% vs. 16%+ historical. Even partial recovery to 12-13% = massive EPS upside. Market pricing permanent impairment; we say cyclical + managerial.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America is 72% of revenue but ~85% of operating profit — this is fundamentally a North America turnaround story. China is being refranchised (classifying as held-for-sale).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brand was never broken — execution was. Niccol's thesis: simplify, staff properly, restore the experience. At CMG he took 4 years. SBUX has a much larger base, so leverage is bigger. The operational changes are the same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data: comps turned positive Q4 FY25 (+1%) and accelerated to +6.2% in Q2 FY26. Q2 Non-GAAP EPS $0.50 — 19% beat vs consensus. This is the inflection. Revenue in Q2 FY26 was $9.5bn, up 9% — strongest growth in 8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of the pitch. The China D&amp;A tailwind (+200bps) is real but non-recurring — distinguish it from structural +250-350bps from operations. Even stripping China, the story holds. Market pricing ~9-10% margin perpetuity; we think 12-14% is achievable.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moat question: why won't Dutch Bros or Luckin erode SBUX permanently? Answer: the loyalty flywheel + brand premium + scale. Dutch Bros is growing fast from 1,000 stores vs. SBUX 17,000 in North America. The brand wasn't broken — operations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methods → both ~$128: (1) $2.60 EPS × 25x + $63 brand premium = $128. (2) $5.3bn EBITDA × 16x = $85bn EV – $11bn net debt / 1.14bn shares = $65 + brand = $128. We're not asking for a Chipotle re-rating, just halfway toward mature QSR peers.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risk to prep for: coffee commodity inflation. Answer: 12-month hedges provide visibility; SBUX has demonstrated ability to take price. Bigger risk = Q3 execution miss. That's your stop-loss scenario at $85-90.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'SBUX is Chipotle in 2016 — brand intact, CEO proven, margin recovery is mathematically huge. The market treats it like the brand is broken. We disagree.' Repeat PT $128, +27%, catalyst Aug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502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993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CORPORATION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" y="2432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NASDAQ: SBUX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05840" y="2834640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CBA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" y="34198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Target: $128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$101.07  |  Upside: +27%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7160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24,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60520" y="5943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Starbucks: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160520" y="1115568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Underpricing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Recovery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160520" y="2304288"/>
            <a:ext cx="4572000" cy="0"/>
          </a:xfrm>
          <a:prstGeom prst="line">
            <a:avLst/>
          </a:prstGeom>
          <a:noFill/>
          <a:ln w="19050">
            <a:solidFill>
              <a:srgbClr val="007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0520" y="2450592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proven: first top + bottom-line growth in 8+ quarters (Q2 FY26)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comps +6.2%; North America +7.1% — transaction-led recovery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at 7.9% vs. 16.4% historical peak — massive runway ahead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Niccol (Chipotle architect) executing proven playbook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stake sale ($2–3bn) + China refranchising as near-term catalysts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SUMMARY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Corp (SBUX)  |  BUY  |  PT $128  |  +27% upside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74980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74980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Potential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749808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8046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FY27E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3716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P/E Multiple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01952"/>
            <a:ext cx="2834640" cy="329184"/>
          </a:xfrm>
          <a:prstGeom prst="roundRect">
            <a:avLst>
              <a:gd name="adj" fmla="val 19444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0195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BULL CASE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267712"/>
            <a:ext cx="265176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Niccol (Chipotle) driving proven turnaround playbook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+6.2% global Q2 FY26 — first simultaneous top/bottom-line beat in 8+ qtrs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7.9% vs. 16.4% peak — 450-550bps recovery runway ahead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35.6M Rewards members (+4%) — world's #2 gift card brand; 60%+ of US revenue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stake sale ~$2-3bn + China refranchising unlock hidden value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daypart + Refresher platform driving incremental ticket growth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182112" y="1901952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1901952"/>
            <a:ext cx="2834640" cy="329184"/>
          </a:xfrm>
          <a:prstGeom prst="roundRect">
            <a:avLst>
              <a:gd name="adj" fmla="val 19444"/>
            </a:avLst>
          </a:prstGeom>
          <a:solidFill>
            <a:srgbClr val="CBA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190195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VALUATION CASE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3552" y="2267712"/>
            <a:ext cx="265176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FY27E EPS ~$2.60 on 11.5% op. margin recovery (vs. 7.9% FY25 trough)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P/E (peer discount) + franchise premium = $128 base case price target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16x FY27E vs. CMG 30x, Dutch Bros 25x — material re-rating room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yield 3.8% → 5%+ as margins normalize — strong valuation floor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 $2.40/share (2.4% yield) provides income support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case (margin to 14%): $145–155 by FY28E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089904" y="1901952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1901952"/>
            <a:ext cx="2834640" cy="329184"/>
          </a:xfrm>
          <a:prstGeom prst="roundRect">
            <a:avLst>
              <a:gd name="adj" fmla="val 19444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90195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KEY RISKS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81344" y="2267712"/>
            <a:ext cx="265176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Arabica coffee commodity inflation +30% YoY — partial hedge only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execution risk: any comp miss in Q3-Q4 FY26 resets expectations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macro + Luckin competition — refranchise risk if rushed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debt load: $14.6bn, negative book equity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consumer trade-down risk in recession scenario</a:t>
            </a:r>
            <a:endParaRPr lang="en-US" sz="88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Korea/Japan reputational incidents (ongoing) — manageable but real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Q2 FY2026 8-K (4/28/2026); SBUX FY2025 10-K (11/21/2025); FactSet consensus; analyst estimates as of June 2026.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Largest Coffee Retailer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8046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Stores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47672" y="74980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8046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$36.2bn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47672" y="13716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12464" y="74980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8046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$4.7bn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12464" y="13716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EBITDA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77256" y="74980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8046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1.14bn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77256" y="13716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Diluted Shares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42048" y="74980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8046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42048" y="13716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Members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01952"/>
            <a:ext cx="393192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1965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331720"/>
            <a:ext cx="3822192" cy="749808"/>
          </a:xfrm>
          <a:prstGeom prst="roundRect">
            <a:avLst>
              <a:gd name="adj" fmla="val 7317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23774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Rev of Rev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Company-operated &amp; licensed stores in U.S./Canada — core profit engine generating ~85% of operating income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172968"/>
            <a:ext cx="3822192" cy="749808"/>
          </a:xfrm>
          <a:prstGeom prst="roundRect">
            <a:avLst>
              <a:gd name="adj" fmla="val 7317"/>
            </a:avLst>
          </a:prstGeom>
          <a:solidFill>
            <a:srgbClr val="0D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18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2186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Rev of Rev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Co-operated + licensed stores in 84 countries; Japan, China, EMEA, LatAm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014216"/>
            <a:ext cx="3822192" cy="749808"/>
          </a:xfrm>
          <a:prstGeom prst="roundRect">
            <a:avLst>
              <a:gd name="adj" fmla="val 7317"/>
            </a:avLst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59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Dev.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40599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of Rev of Rev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342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packaged coffee, RTD beverages; Global Coffee Alliance with Nestlé ($7.15bn upfront, ongoing royalties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70832" y="1901952"/>
            <a:ext cx="448056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80560" y="19659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COUNT BY REGION (FY2025)</a:t>
            </a:r>
            <a:endParaRPr lang="en-US" sz="11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370832" y="2304288"/>
          <a:ext cx="4480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FY2025 Annual Report (10-K filed 11/21/2025, SEC CIK 0000829224). Store counts as of September 28, 2025.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TURNAROUND STORY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 — What Niccol Is Fixing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WHAT WENT WRONG  (FY2022–FY2025)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749808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749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NICCOL'S FIX  (FY2026+)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0700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Overcomplicated Menu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46304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customisation combos → slow throughput, long wait times, customer frustration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" y="19568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In-Store Experience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221284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pivot turned cafés into pickup counters; 'third place' feel lost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" y="2706624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Eroded Value Perception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296265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price hikes without quality improvement → traffic decline began FY23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" y="345643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Misalignment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2336" y="371246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trained customers to wait for deals; damaged premium positioning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16966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2336" y="420624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Model Mismatch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" y="446227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not calibrated to mobile order surge; peak-hour throughput collapsed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91456" y="120700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Simplification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91456" y="146304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low-velocity SKUs; returning to coffee-forward, seasonal-focused menu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91456" y="19568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Third Place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221284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'Green Apron' service culture; condiment bars back; free refills for Rewards members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6700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91456" y="2706624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Reset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91456" y="296265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beverage surcharges; reframing around quality + experience, not price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41985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91456" y="345643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Brand Repositioning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91456" y="371246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Cup Bearista, early Pumpkin Spice — aspirational, occasion-driven marketing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416966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91456" y="420624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Store Upgrades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91456" y="446227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equipment deployment; throughput investment at highest-volume locations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Niccol hired Sept 2024 — architect of Chipotle's 2016–2023 turnaround (margins 11% → 26%). SBUX starting point: 40,000 stores, $36bn revenue, #1 QSR loyalty program.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— THE INFLECTION IS HERE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Comparable Store Sales Growth (%)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11880" y="228600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Inflection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FY25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5488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&amp; EBITDA ($bn)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0058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950208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0040" y="3995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FY26 Revenue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20040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$9.5bn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20040" y="4471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+9% YoY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450592" y="3950208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496312" y="3995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FY26 Comps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496312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+6.2% Global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496312" y="4471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+7.1% N.America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26864" y="3950208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72584" y="3995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EPS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672584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72584" y="4471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beat vs. consensus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803136" y="3950208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848856" y="3995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Guidance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848856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≥5%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848856" y="4471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$2.25–$2.45 (raised)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Q1 FY2026 8-K (1/28/2026); SBUX Q2 FY2026 8-K (4/28/2026); SBUX FY2022–FY2025 10-K filings; FY2026E = FactSet/TIKR consensus.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RECOVERY — WHERE THE UPSIDE LIVES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History &amp; Recovery Path (%)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24128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91840" y="10972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931920" y="3337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Trough: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0" y="26517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→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532120" y="749808"/>
            <a:ext cx="3337560" cy="413308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749808"/>
            <a:ext cx="3337560" cy="329184"/>
          </a:xfrm>
          <a:prstGeom prst="roundRect">
            <a:avLst>
              <a:gd name="adj" fmla="val 19444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7498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RECOVERY BRIDGE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50408" y="1152144"/>
            <a:ext cx="330098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14416" y="1188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Trough Margin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516368" y="118872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14416" y="135331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550408" y="1513332"/>
            <a:ext cx="3300984" cy="33832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14416" y="15499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Sales Leverage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7516368" y="15499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+~150bps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14416" y="171450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Fixed-cost leverage on comp recovery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550408" y="1874520"/>
            <a:ext cx="330098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14416" y="19110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Labor Optimization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7516368" y="191109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+~100bps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14416" y="207568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improvements; better staffing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550408" y="2235708"/>
            <a:ext cx="3300984" cy="33832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14416" y="22722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Menu Simplification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7516368" y="22722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+~50bps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14416" y="243687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SKUs → faster prep, less waste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550408" y="2596896"/>
            <a:ext cx="330098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14416" y="26334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China D&amp;A Tailwind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7516368" y="2633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+~200bps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14416" y="27980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Non-recurring: cease D&amp;A on HFS assets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550408" y="2958084"/>
            <a:ext cx="3300984" cy="33832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14416" y="29946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Supply Chain &amp; Pricing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7516368" y="299466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+~50bps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14416" y="315925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efficiencies; selective pricing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550408" y="3319272"/>
            <a:ext cx="3300984" cy="338328"/>
          </a:xfrm>
          <a:prstGeom prst="rect">
            <a:avLst/>
          </a:prstGeom>
          <a:solidFill>
            <a:srgbClr val="D4E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14416" y="33558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Total Bridge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7516368" y="3355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+450–550bps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550408" y="3680460"/>
            <a:ext cx="3300984" cy="338328"/>
          </a:xfrm>
          <a:prstGeom prst="rect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14416" y="37170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FY27–28E Target Margin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7516368" y="371703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12.5–14%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FY2019–FY2025 10-K filings; Q2 FY2026 earnings release. FY26–28E are analyst projections, not company guidance. Bridge estimates per TIKR/FactSet.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 — WHY STARBUCKS WINS LONG-TERM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1440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886968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Ecosystem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120700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35.6M Active Members | $3.5bn Card Loads/Qtr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8912" y="1536192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1609344"/>
            <a:ext cx="37673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Rewards drives 60%+ of US revenue. Card balances represent interest-free float funding operations. No QSR competitor has come close to replicating this flywheel — Dutch Bros has 5M members vs. 35M+.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663440" y="749808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91440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886968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Premium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13248" y="120700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Brand Value &gt;$14bn | 52-Year Heritage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828032" y="1536192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28032" y="1609344"/>
            <a:ext cx="37673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SBUX commands a $5-8 premium over independent cafés for functionally similar products — proof of genuine brand equity and pricing power. This premium has persisted through all cycles including COVID, inflation, and the current dip.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274320" y="2761488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2608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2898648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24128" y="321868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40,199 Stores | 84 Countries | $36bn Revenue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38912" y="3547872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38912" y="3621024"/>
            <a:ext cx="37673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enables supply chain advantages, proprietary green coffee procurement, licensed tech/equipment, and franchise economics no regional player can replicate. The Nestlé Global Coffee Alliance generates royalties on $7+ billion of CPG sales annually.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4663440" y="2761488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2608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13248" y="2898648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13248" y="321868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 ~35% of US Transactions | AI Personalization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828032" y="3547872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28032" y="3621024"/>
            <a:ext cx="37673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QSR mobile app with 34.6M Rewards users. AI-driven personalization is increasing average ticket and visit frequency. Deep consumer data on coffee preferences — a compounding moat as AI integration expands.</a:t>
            </a:r>
            <a:endParaRPr lang="en-US" sz="880" dirty="0"/>
          </a:p>
        </p:txBody>
      </p:sp>
      <p:sp>
        <p:nvSpPr>
          <p:cNvPr id="28" name="Text 2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Q2 FY2026 8-K; SBUX FY2025 10-K; Kantar BrandZ 2025; company investor presentations; Dutch Bros Q1 FY2026 10-Q.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— $128 PRICE TARGET  (+27% UPSIDE)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160520" cy="329184"/>
          </a:xfrm>
          <a:prstGeom prst="roundRect">
            <a:avLst>
              <a:gd name="adj" fmla="val 19444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POWER ANALYSIS (FY2027E)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152144"/>
            <a:ext cx="4123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FY2027E 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31720" y="1170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$39.5bn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1704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~9% growth; ~5% comps + store expansion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2608" y="1408176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264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Operating Margin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14264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42646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recovery from 7.9% FY25 trough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" y="1664208"/>
            <a:ext cx="4123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82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EBIT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16824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$4.5bn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68249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2608" y="1920240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9385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Net Interest Expense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1938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($0.55bn)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193852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~$14bn debt @ ~4% avg. blended rate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2608" y="2176272"/>
            <a:ext cx="4123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194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Pre-Tax Income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31720" y="21945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$4.0bn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21945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92608" y="2432304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4505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Taxes (26%)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31720" y="24505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($1.04bn)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24505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effective tax rate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92608" y="2688336"/>
            <a:ext cx="4123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7066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Net Income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31720" y="270662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$2.96bn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270662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92608" y="2944368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9626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Diluted Shares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31720" y="29626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1.14bn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296265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buybacks conservatively assumed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92608" y="3200400"/>
            <a:ext cx="4123944" cy="237744"/>
          </a:xfrm>
          <a:prstGeom prst="rect">
            <a:avLst/>
          </a:prstGeom>
          <a:solidFill>
            <a:srgbClr val="D4E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2186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FY2027E EPS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31720" y="3218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~$2.60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21868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case; street: $2.45–$2.80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92608" y="3456432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474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P/E Multiple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31720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34747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discount; vs. CMG 50x, MCD 23x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92608" y="3712464"/>
            <a:ext cx="4123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730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Earnings Power Value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31720" y="3730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$65.00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37307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92608" y="3968496"/>
            <a:ext cx="4123944" cy="237744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9867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Franchise/Brand Premium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331720" y="398678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$63.00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0" y="3986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Loyalty, Nestlé JV royalties, Japan asset, brand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92608" y="4224528"/>
            <a:ext cx="4123944" cy="237744"/>
          </a:xfrm>
          <a:prstGeom prst="rect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2428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PRICE TARGET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331720" y="42428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A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$128.00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00400" y="424281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case; 27% upside from $101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17720" y="749808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749808"/>
            <a:ext cx="4251960" cy="329184"/>
          </a:xfrm>
          <a:prstGeom prst="roundRect">
            <a:avLst>
              <a:gd name="adj" fmla="val 19444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17720" y="7498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COMPANY ANALYSIS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663440" y="1133856"/>
            <a:ext cx="1508760" cy="23774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72200" y="1133856"/>
            <a:ext cx="713232" cy="23774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885432" y="1133856"/>
            <a:ext cx="658368" cy="23774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NTM P/E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543800" y="1133856"/>
            <a:ext cx="731520" cy="23774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Grwth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275320" y="1133856"/>
            <a:ext cx="640080" cy="23774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Mgn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36008" y="1389888"/>
            <a:ext cx="4215384" cy="292608"/>
          </a:xfrm>
          <a:prstGeom prst="rect">
            <a:avLst/>
          </a:prstGeom>
          <a:solidFill>
            <a:srgbClr val="FFF8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40817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(SBUX)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172200" y="140817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13x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85432" y="140817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39x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543800" y="14081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(FY26E)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275320" y="140817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 Q2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36008" y="1709928"/>
            <a:ext cx="42153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72821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Chipotle (CMG)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172200" y="172821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85432" y="172821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543800" y="172821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275320" y="172821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636008" y="2029968"/>
            <a:ext cx="4215384" cy="29260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204825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Bros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172200" y="204825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885432" y="204825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70x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543800" y="204825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275320" y="204825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636008" y="2350008"/>
            <a:ext cx="42153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236829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CAVA Group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172200" y="236829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45x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885432" y="236829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90x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543800" y="236829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275320" y="236829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636008" y="2670048"/>
            <a:ext cx="4215384" cy="29260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268833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McDonald's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172200" y="268833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19x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885432" y="268833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23x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543800" y="268833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275320" y="268833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636008" y="2990088"/>
            <a:ext cx="42153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300837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Yum! Brands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172200" y="300837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17x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885432" y="300837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22x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543800" y="30083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275320" y="300837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636008" y="3310128"/>
            <a:ext cx="4215384" cy="292608"/>
          </a:xfrm>
          <a:prstGeom prst="rect">
            <a:avLst/>
          </a:prstGeom>
          <a:solidFill>
            <a:srgbClr val="F8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0" y="332841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Rest. Brands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6172200" y="332841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16x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885432" y="332841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543800" y="332841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275320" y="332841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30.1%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636008" y="3630168"/>
            <a:ext cx="4215384" cy="292608"/>
          </a:xfrm>
          <a:prstGeom prst="rect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63440" y="364845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SBUX @ $128 PT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172200" y="364845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16x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6885432" y="364845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543800" y="364845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8275320" y="364845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11.5%E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4636008" y="4407408"/>
            <a:ext cx="4215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SBUX trades at deep discount to high-growth QSR peers on every metric, yet has superior brand equity. At PT, still in-line with mature QSR peers.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FactSet consensus estimates (June 2026); SBUX Q2 FY2026 8-K; Bloomberg. Comps = Chipotle, Dutch Bros, CAVA, McDonald's, Yum!, Restaurant Brands (RBI).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 &amp; RISKS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NEAR-TERM CATALYSTS (12–18 months)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749808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749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KEY RISKS &amp; BEAR CASES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2070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FY26 Earnings (Aug 4, 2026)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EPS $0.65–0.70 on continuing comp acceleration. Beat = re-rating trigger — single most important near-term event.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18470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Stake Sale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187452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7452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2336" y="2103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(6/2026): SBUX exploring $2–3bn stake sale in Japanese operations (~1,900 stores). Unlocks hidden value; signals mgmt capital allocation discipline.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" y="24871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Refranchising Completion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51460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1460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" y="27432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co-operated stores to licensed model = higher margin, lower capex intensity, unlocks balance sheet capacity for buybacks.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" y="31272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Annual Results (Oct 2026)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5468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2336" y="3383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Full-year EBITDA margin recovery to ~9.5–10%+ would confirm trajectory and catalyze EPS estimate revisions upward.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73075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2336" y="37673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Daypart Expansion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79476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79476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2336" y="4023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Refresher platform + food innovation targeting 2–5pm window — incremental $1–3bn TAM; currently underpenetrated vs. morning daypart.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3708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A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02336" y="44074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 / Buyback Restart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83280" y="443484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443484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02336" y="4663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Buybacks paused; dividend maintained $2.40. Any buyback restart signals management conviction in recovery sustainability.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91456" y="12070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Arabica Coffee Inflation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0" y="123444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123444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91456" y="1463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+30% YoY in early 2026. SBUX hedges ~12 months forward. FY27 exposure unhedged — could pressure margins 100–200bps if sustained at current levels.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181051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91456" y="18470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Execution Risk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72400" y="187452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187452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91456" y="2103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Niccol is 2 years in. Any comparable sales deceleration in Q3–Q4 FY26 could reset expectations sharply — stock goes back to $85–90 bear case.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245059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91456" y="24871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Consumer &amp; Luckin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72400" y="251460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251460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91456" y="27432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Luckin Coffee is a formidable competitor; Chinese consumer confidence is soft. Refranchising could undervalue assets if rushed under pressure.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309067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91456" y="31272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Leverage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72400" y="315468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0" y="315468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791456" y="3383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$14.6bn total debt, negative book equity. Constrained buyback capacity; if EBITDA misses, leverage metrics deteriorate quickly.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373075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91456" y="37673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Consumer Trade-Down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772400" y="379476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0" y="379476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791456" y="4023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Recession risk: $6 lattes are discretionary for lower-income consumers. Ticket + transaction could compress simultaneously in a downturn.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63440" y="43708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791456" y="44074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Reputational / ESG Risk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72400" y="443484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72400" y="4434840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791456" y="4663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boycott (June 2026), S. Africa incidents — brand risk in key licensed markets. Manageable but worth monitoring, especially given social media velocity.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SBUX Q2 FY2026 earnings call transcript; Bloomberg; ICE Arabica coffee futures; company investor presentations; analyst research (Bernstein, TD Cowen, UBS).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30352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CBA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3035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 |  PT: $128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Upside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$101.07  |  June 24,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47472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FY26E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223113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$38.5bn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FY27E 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715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~$2.60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P/E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85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Div. Yield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6850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69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52-Wk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41696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$78–$109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5029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BUY SBUX NOW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17720" y="1097280"/>
            <a:ext cx="4343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The Setup Is Rare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46304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world-class brand experiencing an execution-driven trough, with the CEO who built the Chipotle playbook. These don't stay cheap long.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066544"/>
            <a:ext cx="4343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2139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Asymmetric Risk-Reward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4323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case (margins 14%): +50% to $150. Base: +27% to $128. Bear (execution miss): -20% to $80. That's a 2.5:1 risk-reward.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035808"/>
            <a:ext cx="4343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Inflection Already Confirmed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4015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speculative call — comps +6.2%, first top+bottom-line beat in 8 quarters, guidance raised. The data is printing.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4005072"/>
            <a:ext cx="4343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40782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Next Catalyst is Aug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437083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FY2026 earnings: consensus EPS $0.65–0.70. Entry now, stop-loss $85–90 if comps disappoint. Clear process.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Hypothetical student pitch for educational/internship application purposes only. Not investment advice.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12480" y="4864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Starbucks (SBUX) — Stock Pitch Deck</dc:title>
  <dc:subject>PptxGenJS Presentation</dc:subject>
  <dc:creator>Equity Research</dc:creator>
  <cp:lastModifiedBy>Equity Research</cp:lastModifiedBy>
  <cp:revision>1</cp:revision>
  <dcterms:created xsi:type="dcterms:W3CDTF">2026-07-03T00:33:02Z</dcterms:created>
  <dcterms:modified xsi:type="dcterms:W3CDTF">2026-07-03T00:33:02Z</dcterms:modified>
</cp:coreProperties>
</file>